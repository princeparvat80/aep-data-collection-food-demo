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 Feastly is a fake food-ordering site we built purely to show how the Data Collection side works and how data arrives in AEP. Our team lives in AEP; today we look one step upstream.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Reframe: this is NOT about us debugging Data Collection. It is about understanding how data reaches AEP so we can investigate, guide the customer, and decide the right owning team (us / Data Collection / Analytics). The scenarios on the left are exactly the judgement calls we make.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Emphasise the decoupling: the site is dumb; Adobe is where the shaping and routing happen.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— this is a reference slide. Tell people it maps to the flow: data layer -&gt; data elements -&gt; rules -&gt; web sdk -&gt; datastream -&gt; schema/identity/profile.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before we look at the actual config, let us learn the vocabulary visually.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property is just a container. Everything else (extensions, data elements, rules, libraries) lives inside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Extensions add features. Feastly needs just two: the Web SDK (to send) and the Client Data Layer (to listen).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element = variable. Read a value from the data layer once; reuse in many rules and in the XDM object.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are just Event -&gt; Condition -&gt; Action. Our rules mostly skip the condition: on &lt;event&gt; -&gt; Send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Library = a shopping bag of changes. Build = compile. Then promote dev -&gt; staging -&gt; prod. We use dev for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idea: one call to the Edge, fanned out server-side by the datastream. Add/remove destinations without code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 = the contract. If a field is not in the schema, it will not land. Show the custom field group and the Email identity.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datastream is where data is routed server-side. Support tip: "data not in AEP" often = AEP service missing here, or wrong dataset. Note Profile enabled: Yes on the event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property holds extensions, data elements and rules. The embed script is what the site loads (via our Adobe Config panel).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the property meets AEP: the Org ID and the datastream. Get either wrong and events either never leave or land in the wrong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data elements are like variables; rules are the functions that use them. 8 read the data layer, 2 are custom code (products array, identity), 1 assembles the XDM.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naming convention and that the right panel is a Data Layer Computed State element reading the "commerce"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teaching point: the Event LISTENS for the camelCase data-layer name; the Action TYPE is the dotted XDM eventType. Mixing these up is the #1 "rule not firing"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"Feastly - Page View" rule is open: its event is Data Layer - pageView, and its only action is Send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ACDL "Data Pushed" event listens for the specific key "pageView". Right: the Send event action sets the eventType and sends the "Feastly - XDM" data element as the payload. This event-then-action split is the whole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sign-in the person is only an ECID. After sign-in the Email joins the identityMap and AEP merges the two into one profile via the identity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DevTools console live if you can. Show a purchase and expand the object so they see commerce.order, productListItems, identityMap and the attributes.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Assurance is the bridge between the browser and AEP. If it looks good here but not in AEP, the issue is datastream/dataset config, not collection.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home turf for the team. Monitoring &gt; Streaming end-to-end shows the dataset receiving records with 0 failures. Support tip: if records fail here, the fix is schema/mapping, not the website.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payoff. The anonymous browsing (ECID) and the signed-in activity (Email) collapsed into one profile once they co-occurred in an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it to the earlier diagram: this is that stitch, in the real tool. Each link records the data source and time it was established.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team will screenshot for their own reference. Walk the funnel top-down: browser (Assurance) &gt; datastream &gt; dataset &gt;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the one-liner. This is the takeaway that lets them reason about any collection issue.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by inviting them to clone and try; offer to pair on wiring it to a sandbox.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3840480" cy="3840480"/>
          </a:xfrm>
          <a:prstGeom prst="ellipse">
            <a:avLst/>
          </a:prstGeom>
          <a:solidFill>
            <a:srgbClr val="EB1000"/>
          </a:solidFill>
          <a:ln w="12700">
            <a:solidFill>
              <a:srgbClr val="EB1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297680"/>
            <a:ext cx="2743200" cy="2743200"/>
          </a:xfrm>
          <a:prstGeom prst="ellipse">
            <a:avLst/>
          </a:prstGeom>
          <a:solidFill>
            <a:srgbClr val="FFA311"/>
          </a:solidFill>
          <a:ln w="12700">
            <a:solidFill>
              <a:srgbClr val="FFA31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🍔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Feastly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Understanding Data Collection &gt; AEP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891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How a website sends streaming events, profile attributes and identity into Adobe Experience Platform — the simple, standard way.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212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9B9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Presented by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6811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Prince Parvat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90702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Technical Product Consultant 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AIM OF THIS SESSION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Understand the flow — and route cases with confidence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We are an AEP support team. We do not build or debug a customer’s Data Collection setup — but we must understand how website data reaches AEP so we can investigate, guide the customer, and route the case to the right team.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62956" cy="3200400"/>
          </a:xfrm>
          <a:prstGeom prst="roundRect">
            <a:avLst>
              <a:gd name="adj" fmla="val 2571"/>
            </a:avLst>
          </a:prstGeom>
          <a:solidFill>
            <a:srgbClr val="F7F7F7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423160"/>
            <a:ext cx="457200" cy="457200"/>
          </a:xfrm>
          <a:prstGeom prst="ellipse">
            <a:avLst/>
          </a:prstGeom>
          <a:solidFill>
            <a:srgbClr val="0AA3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🔎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441448"/>
            <a:ext cx="4265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What you’ll be able to reason about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063240"/>
            <a:ext cx="463143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Web SDK: a hit is missing, or some data isn’t ingested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Mobile SDK: how the data flows in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Using Adobe Assurance to trace an event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Reading a failed batch / ingestion error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Guiding the customer to the right next step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Deciding who owns it: us, Data Collection, or Analytics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7356" y="2148840"/>
            <a:ext cx="5362956" cy="3200400"/>
          </a:xfrm>
          <a:prstGeom prst="roundRect">
            <a:avLst>
              <a:gd name="adj" fmla="val 2571"/>
            </a:avLst>
          </a:prstGeom>
          <a:solidFill>
            <a:srgbClr val="F7F7F7"/>
          </a:solidFill>
          <a:ln/>
        </p:spPr>
      </p:sp>
      <p:sp>
        <p:nvSpPr>
          <p:cNvPr id="11" name="Shape 9"/>
          <p:cNvSpPr/>
          <p:nvPr/>
        </p:nvSpPr>
        <p:spPr>
          <a:xfrm>
            <a:off x="6551676" y="2423160"/>
            <a:ext cx="457200" cy="457200"/>
          </a:xfrm>
          <a:prstGeom prst="ellipse">
            <a:avLst/>
          </a:prstGeom>
          <a:solidFill>
            <a:srgbClr val="3A63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1676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146036" y="2441448"/>
            <a:ext cx="4265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What this project gives you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6643116" y="3063240"/>
            <a:ext cx="463143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Set up Data Collection hands-on (schema, datastream, rules)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Send streaming data into a real-time AEP profile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See website data ingested into AEP (and other stores)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practical, end-to-end mental model of the pipeline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Confidence to investigate and route a case correctly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Scope:  </a:t>
            </a:r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debugging a customer’s Data Collection implementation sits with the Data Collection / Analytics team. Our job is to understand the flow and route the case to the right owner.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BIG PICTURE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From a click to a profile in AEP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48056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1F1F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48056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🖥️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48056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Website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9496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User clicks / views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167128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1000"/>
                </a:solidFill>
              </a:rPr>
              <a:t>▸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359152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1F1F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359152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359152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Layer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450592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adobeDataLayer.push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078224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1000"/>
                </a:solidFill>
              </a:rPr>
              <a:t>▸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70248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1F1F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70248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🏷️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270248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Tags (Launch)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Rules + Data Elements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1000"/>
                </a:solidFill>
              </a:rPr>
              <a:t>▸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81344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1F1F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81344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181344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Web SDK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272784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sendEvent (XDM)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900416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1000"/>
                </a:solidFill>
              </a:rPr>
              <a:t>▸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092440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1F1F1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92440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🔀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092440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Datastream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183880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Edge routing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1000"/>
                </a:solidFill>
              </a:rPr>
              <a:t>▸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0003536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EB100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03536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☁️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10003536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AEP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094976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Events + Profile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480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website only writes to the data layer. Everything downstream is configured in Adobe — no code changes to add or fix tracking.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This is the single most important slide — keep coming back to it.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KEY CONCEPTS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vocabulary in one place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128016" cy="128016"/>
          </a:xfrm>
          <a:prstGeom prst="ellipse">
            <a:avLst/>
          </a:prstGeom>
          <a:solidFill>
            <a:srgbClr val="B10C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810512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Layer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21408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JS object (adobeDataLayer) the site pushes events into.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7356" y="1691640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5956" y="1874520"/>
            <a:ext cx="128016" cy="128016"/>
          </a:xfrm>
          <a:prstGeom prst="ellipse">
            <a:avLst/>
          </a:prstGeom>
          <a:solidFill>
            <a:srgbClr val="0AA35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34556" y="1810512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A35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Extension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05956" y="2121408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plug-in in Tags (e.g. Web SDK, Client Data Layer).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70632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53512"/>
            <a:ext cx="128016" cy="128016"/>
          </a:xfrm>
          <a:prstGeom prst="ellipse">
            <a:avLst/>
          </a:prstGeom>
          <a:solidFill>
            <a:srgbClr val="3A63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2889504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3F9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Element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20040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reusable "variable" that reads a value (from the data layer).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77356" y="2770632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5956" y="2953512"/>
            <a:ext cx="128016" cy="128016"/>
          </a:xfrm>
          <a:prstGeom prst="ellipse">
            <a:avLst/>
          </a:prstGeom>
          <a:solidFill>
            <a:srgbClr val="C67F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34556" y="2889504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7F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Rule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505956" y="320040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When X happens &gt; do Y (e.g. on "purchase" &gt; send event).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849624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032504"/>
            <a:ext cx="128016" cy="128016"/>
          </a:xfrm>
          <a:prstGeom prst="ellipse">
            <a:avLst/>
          </a:prstGeom>
          <a:solidFill>
            <a:srgbClr val="C2149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3968496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49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Schema (XDM)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279392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agreed structure/shape of the data in AEP.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77356" y="3849624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05956" y="4032504"/>
            <a:ext cx="128016" cy="128016"/>
          </a:xfrm>
          <a:prstGeom prst="ellipse">
            <a:avLst/>
          </a:prstGeom>
          <a:solidFill>
            <a:srgbClr val="0AA35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34556" y="3968496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A35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Datastream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505956" y="4279392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Server-side config that routes Edge data to AEP (and others).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4928616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111496"/>
            <a:ext cx="128016" cy="128016"/>
          </a:xfrm>
          <a:prstGeom prst="ellipse">
            <a:avLst/>
          </a:prstGeom>
          <a:solidFill>
            <a:srgbClr val="3A63F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5840" y="5047488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3F9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Identity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358384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Who the user is — ECID (anon) + Email (known).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277356" y="4928616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05956" y="5111496"/>
            <a:ext cx="128016" cy="128016"/>
          </a:xfrm>
          <a:prstGeom prst="ellipse">
            <a:avLst/>
          </a:prstGeom>
          <a:solidFill>
            <a:srgbClr val="B10C0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734556" y="5047488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Profile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505956" y="5358384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unified person in AEP: identities + attributes + events.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4206240"/>
            <a:ext cx="3474720" cy="347472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1280160"/>
            <a:ext cx="3108960" cy="310896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PART 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Foundations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words your team will hear — explained simply, with pictures.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FOUNDATIONS · 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What is a Tag (Launch) property?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Your tracking "control room" — one container that holds everything you configure.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91672" cy="3931920"/>
          </a:xfrm>
          <a:prstGeom prst="roundRect">
            <a:avLst>
              <a:gd name="adj" fmla="val 2326"/>
            </a:avLst>
          </a:prstGeom>
          <a:solidFill>
            <a:srgbClr val="F7F7F7"/>
          </a:solidFill>
          <a:ln w="19050">
            <a:solidFill>
              <a:srgbClr val="EB1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🏷️  Tag Property — “Feastly Web”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2880360"/>
            <a:ext cx="2384298" cy="2743200"/>
          </a:xfrm>
          <a:prstGeom prst="roundRect">
            <a:avLst>
              <a:gd name="adj" fmla="val 3452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044952"/>
            <a:ext cx="238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🧩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593592"/>
            <a:ext cx="210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Extensions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931920"/>
            <a:ext cx="20185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Plug-ins that add powers (Web SDK, Client Data Layer).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573018" y="2880360"/>
            <a:ext cx="2384298" cy="2743200"/>
          </a:xfrm>
          <a:prstGeom prst="roundRect">
            <a:avLst>
              <a:gd name="adj" fmla="val 3452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73018" y="3044952"/>
            <a:ext cx="238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🔤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10178" y="3593592"/>
            <a:ext cx="210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Elements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755898" y="3931920"/>
            <a:ext cx="20185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Reusable variables that read values from the page.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31636" y="2880360"/>
            <a:ext cx="2384298" cy="2743200"/>
          </a:xfrm>
          <a:prstGeom prst="roundRect">
            <a:avLst>
              <a:gd name="adj" fmla="val 3452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31636" y="3044952"/>
            <a:ext cx="238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368796" y="3593592"/>
            <a:ext cx="210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Rules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414516" y="3931920"/>
            <a:ext cx="20185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When X happens &gt; do Y (send an event).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90254" y="2880360"/>
            <a:ext cx="2384298" cy="2743200"/>
          </a:xfrm>
          <a:prstGeom prst="roundRect">
            <a:avLst>
              <a:gd name="adj" fmla="val 3452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890254" y="3044952"/>
            <a:ext cx="238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📚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9027414" y="3593592"/>
            <a:ext cx="210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Libraries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9073134" y="3931920"/>
            <a:ext cx="20185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Bundles of changes you build &amp; publish.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FOUNDATIONS · 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What is an Extension?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plug-in that gives the property new capabilities — like installing an app on your phone.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453384" cy="2377440"/>
          </a:xfrm>
          <a:prstGeom prst="roundRect">
            <a:avLst>
              <a:gd name="adj" fmla="val 3462"/>
            </a:avLst>
          </a:prstGeom>
          <a:solidFill>
            <a:srgbClr val="FDECE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450592"/>
            <a:ext cx="3453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🧱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9923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Core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37560"/>
            <a:ext cx="3087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Built-in basics: custom code, page-load events.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7784" y="2286000"/>
            <a:ext cx="3453384" cy="2377440"/>
          </a:xfrm>
          <a:prstGeom prst="roundRect">
            <a:avLst>
              <a:gd name="adj" fmla="val 3462"/>
            </a:avLst>
          </a:prstGeom>
          <a:solidFill>
            <a:srgbClr val="FDECE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67784" y="2450592"/>
            <a:ext cx="3453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504944" y="299923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AEP Web SDK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50664" y="3337560"/>
            <a:ext cx="3087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Sends events to the Edge / Datastream.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86928" y="2286000"/>
            <a:ext cx="3453384" cy="2377440"/>
          </a:xfrm>
          <a:prstGeom prst="roundRect">
            <a:avLst>
              <a:gd name="adj" fmla="val 3462"/>
            </a:avLst>
          </a:prstGeom>
          <a:solidFill>
            <a:srgbClr val="FDECE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86928" y="2450592"/>
            <a:ext cx="3453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24088" y="299923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Adobe Client Data Layer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3337560"/>
            <a:ext cx="3087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Listens to adobeDataLayer pushes.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292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We only need these two ➜ AEP Web SDK  +  Adobe Client Data Layer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FOUNDATIONS ·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What is a Data Element?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named, reusable "variable" that grabs a value once — so every rule can reuse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1F1F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651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layer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user: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email: "a@b.com"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}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977640" y="31546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B1000"/>
                </a:solidFill>
              </a:rPr>
              <a:t>▸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0" y="2468880"/>
            <a:ext cx="32918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26334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🔤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31821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Element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3520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“Feastly - user”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reads user from the data layer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0" y="2468880"/>
            <a:ext cx="3291840" cy="1828800"/>
          </a:xfrm>
          <a:prstGeom prst="roundRect">
            <a:avLst>
              <a:gd name="adj" fmla="val 5000"/>
            </a:avLst>
          </a:prstGeom>
          <a:ln w="19050">
            <a:solidFill>
              <a:srgbClr val="EB1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31546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B1000"/>
                </a:solidFill>
              </a:rPr>
              <a:t>▸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595360" y="2468880"/>
            <a:ext cx="3044952" cy="1828800"/>
          </a:xfrm>
          <a:prstGeom prst="roundRect">
            <a:avLst>
              <a:gd name="adj" fmla="val 4500"/>
            </a:avLst>
          </a:prstGeom>
          <a:solidFill>
            <a:srgbClr val="FDECE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95360" y="263347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732520" y="3182112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Reused in Rules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3520440"/>
            <a:ext cx="2679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Every rule references it — define once, use everywhere.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029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Analogy: like a saved contact — set the number once, dial it from anywhere.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FOUNDATIONS · 4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What is a Rule?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Simple logic: WHEN something happens &gt; (optionally IF a condition) &gt; DO an action.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3383280" cy="2194560"/>
          </a:xfrm>
          <a:prstGeom prst="roundRect">
            <a:avLst>
              <a:gd name="adj" fmla="val 4167"/>
            </a:avLst>
          </a:prstGeom>
          <a:solidFill>
            <a:srgbClr val="EB1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①  EVENT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When…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204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“purchase” is pushed to the data layer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3291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B1000"/>
                </a:solidFill>
              </a:rPr>
              <a:t>▸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377440"/>
            <a:ext cx="3383280" cy="2194560"/>
          </a:xfrm>
          <a:prstGeom prst="roundRect">
            <a:avLst>
              <a:gd name="adj" fmla="val 4167"/>
            </a:avLst>
          </a:prstGeom>
          <a:solidFill>
            <a:srgbClr val="FFA31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340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②  CONDITION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3063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If… (optional)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5204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e.g. only on the checkout page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3291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B1000"/>
                </a:solidFill>
              </a:rPr>
              <a:t>▸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138160" y="2377440"/>
            <a:ext cx="3383280" cy="2194560"/>
          </a:xfrm>
          <a:prstGeom prst="roundRect">
            <a:avLst>
              <a:gd name="adj" fmla="val 4167"/>
            </a:avLst>
          </a:prstGeom>
          <a:solidFill>
            <a:srgbClr val="1F1F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3816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③  ACTION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3063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Then do…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5204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Send the event to the Edge (Web SDK)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1206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⚠️  Event listens for the data-layer name (purchase). Action Type = the XDM eventType (commerce.purchases). Don't mix them up!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FOUNDATIONS ·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Publishing Flow &amp; Libraries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Library bundles your changes; you Build it, then promote it through environments.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3796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2F2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📝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90956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Changes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Edit data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elements &amp; rules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318004" y="3429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B1000"/>
                </a:solidFill>
              </a:rPr>
              <a:t>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491740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2F2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491740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📚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628900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Library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2674620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Bundle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changes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155948" y="3429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B1000"/>
                </a:solidFill>
              </a:rPr>
              <a:t>▸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329684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2F2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29684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🔨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466844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Build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512564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Compile to 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script file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993892" y="3429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B1000"/>
                </a:solidFill>
              </a:rPr>
              <a:t>▸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167628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DECE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67628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🧪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6304788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350508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Test on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dev site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831836" y="3429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B1000"/>
                </a:solidFill>
              </a:rPr>
              <a:t>▸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005572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DECE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5572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🚦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8142732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Staging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188452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QA / approval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9669780" y="3429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B1000"/>
                </a:solidFill>
              </a:rPr>
              <a:t>▸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9843516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DECE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843516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🚀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9980676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Production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10026396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Live to users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1206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For this demo we build to Development and embed that script — the same flow scales to Staging &gt; Production.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FOUNDATIONS · 6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Datastream pipeline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Web SDK sends ONE event to the Edge. The datastream decides which Adobe apps receive it — server-side.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2468880" cy="1280160"/>
          </a:xfrm>
          <a:prstGeom prst="roundRect">
            <a:avLst>
              <a:gd name="adj" fmla="val 7143"/>
            </a:avLst>
          </a:prstGeom>
          <a:solidFill>
            <a:srgbClr val="2C2C2C"/>
          </a:solidFill>
          <a:ln w="15875">
            <a:solidFill>
              <a:srgbClr val="EB1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7432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🖥️ Browser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Web SDK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B1000"/>
                </a:solidFill>
              </a:rPr>
              <a:t>▸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611880" y="24688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C2C2C"/>
          </a:solidFill>
          <a:ln w="15875">
            <a:solidFill>
              <a:srgbClr val="EB1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2743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🔀 Edge Network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+ Datastream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B1000"/>
                </a:solidFill>
              </a:rPr>
              <a:t>▸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903720" y="2148840"/>
            <a:ext cx="4572000" cy="960120"/>
          </a:xfrm>
          <a:prstGeom prst="roundRect">
            <a:avLst>
              <a:gd name="adj" fmla="val 9524"/>
            </a:avLst>
          </a:prstGeom>
          <a:solidFill>
            <a:srgbClr val="EB1000"/>
          </a:solidFill>
          <a:ln w="12700">
            <a:solidFill>
              <a:srgbClr val="EB1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0" y="22585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☁️ AEP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26517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Profiles + datasets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B1000"/>
                </a:solidFill>
              </a:rPr>
              <a:t>▸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903720" y="3337560"/>
            <a:ext cx="4572000" cy="960120"/>
          </a:xfrm>
          <a:prstGeom prst="roundRect">
            <a:avLst>
              <a:gd name="adj" fmla="val 9524"/>
            </a:avLst>
          </a:prstGeom>
          <a:solidFill>
            <a:srgbClr val="2C2C2C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0" y="34472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📊 Analytics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3840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Reports (optional)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B1000"/>
                </a:solidFill>
              </a:rPr>
              <a:t>▸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903720" y="4526280"/>
            <a:ext cx="4572000" cy="960120"/>
          </a:xfrm>
          <a:prstGeom prst="roundRect">
            <a:avLst>
              <a:gd name="adj" fmla="val 9524"/>
            </a:avLst>
          </a:prstGeom>
          <a:solidFill>
            <a:srgbClr val="2C2C2C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0" y="46360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🎯 Target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5029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Personalization (optional)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Feastly enables only AEP — but the same event could feed all three without touching the website.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COMPONENT 1 · AEP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XDM Schema — the shape of the data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Class: ExperienceEvent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type of record — a time-stamped event.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Field groups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Web SDK EE + Commerce + custom "Feastly Details".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Identity: Email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Marked as an identity so AEP can stitch people.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Dataset &gt; Profile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Enabled for Profile so events build real-time profiles.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81646" y="1627632"/>
            <a:ext cx="5220620" cy="4608576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  <a:effectLst>
            <a:outerShdw sx="100000" sy="100000" kx="0" ky="0" algn="bl" rotWithShape="0" blurRad="88900" dist="38100" dir="5400000">
              <a:srgbClr val="8A8A8A">
                <a:alpha val="40000"/>
              </a:srgbClr>
            </a:outerShdw>
          </a:effectLst>
        </p:spPr>
      </p:sp>
      <p:pic>
        <p:nvPicPr>
          <p:cNvPr id="21" name="Image 0" descr="screenshots/sche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5654" y="1691640"/>
            <a:ext cx="5092604" cy="44805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COMPONENT 2 · DATA COLLECTION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Datastream — the routing switchboard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One datastream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"Feastly Web SDK" — the server-side config.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Adobe Experience Platform service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Added and pointed at the Feastly dataset.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Datastream ID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Web SDK sends to this ID at the Edge.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Extensible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Same event can also go to Analytics, Target, etc.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879592" y="2202694"/>
            <a:ext cx="5824728" cy="3458453"/>
          </a:xfrm>
          <a:prstGeom prst="roundRect">
            <a:avLst>
              <a:gd name="adj" fmla="val 1586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  <a:effectLst>
            <a:outerShdw sx="100000" sy="100000" kx="0" ky="0" algn="bl" rotWithShape="0" blurRad="88900" dist="38100" dir="5400000">
              <a:srgbClr val="8A8A8A">
                <a:alpha val="40000"/>
              </a:srgbClr>
            </a:outerShdw>
          </a:effectLst>
        </p:spPr>
      </p:sp>
      <p:pic>
        <p:nvPicPr>
          <p:cNvPr id="21" name="Image 0" descr="screenshots/datastr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266702"/>
            <a:ext cx="5696712" cy="3330437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COMPONENT 3 · DATA COLLECTION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Tag (Launch) property + extensions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Property "Feastly Web"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container for all collection logic.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AEP Web SDK extension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Configured with the datastream + Org ID.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Adobe Client Data Layer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Listens to adobeDataLayer pushes.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Publish &gt; embed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Build a library, embed the script on the site.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879592" y="2560847"/>
            <a:ext cx="5824728" cy="2742146"/>
          </a:xfrm>
          <a:prstGeom prst="roundRect">
            <a:avLst>
              <a:gd name="adj" fmla="val 2001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  <a:effectLst>
            <a:outerShdw sx="100000" sy="100000" kx="0" ky="0" algn="bl" rotWithShape="0" blurRad="88900" dist="38100" dir="5400000">
              <a:srgbClr val="8A8A8A">
                <a:alpha val="40000"/>
              </a:srgbClr>
            </a:outerShdw>
          </a:effectLst>
        </p:spPr>
      </p:sp>
      <p:pic>
        <p:nvPicPr>
          <p:cNvPr id="21" name="Image 0" descr="screenshots/exten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624855"/>
            <a:ext cx="5696712" cy="261413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COMPONENT 3 · DATA COLLECTION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Web SDK extension — configured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Instance "alloy"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Must match the SDK instance name used on the site.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IMS Org ID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Your Experience Cloud org, so events are attributed to you.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Edge domain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edge.adobedc.net — the Adobe endpoint events are sent to.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Datastream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Chosen from the list; this links the property to the datastream.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879592" y="1980459"/>
            <a:ext cx="5824728" cy="3902923"/>
          </a:xfrm>
          <a:prstGeom prst="roundRect">
            <a:avLst>
              <a:gd name="adj" fmla="val 1406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  <a:effectLst>
            <a:outerShdw sx="100000" sy="100000" kx="0" ky="0" algn="bl" rotWithShape="0" blurRad="88900" dist="38100" dir="5400000">
              <a:srgbClr val="8A8A8A">
                <a:alpha val="40000"/>
              </a:srgbClr>
            </a:outerShdw>
          </a:effectLst>
        </p:spPr>
      </p:sp>
      <p:pic>
        <p:nvPicPr>
          <p:cNvPr id="21" name="Image 0" descr="screenshots/websdk-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044467"/>
            <a:ext cx="5696712" cy="3774907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BUILDING BLOCKS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Elements — reusable variables (11)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Each reads one value from the data layer, so rules stay simple and consistent.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page name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337560" y="19659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2044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commerce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26480" y="19659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product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915400" y="19659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09828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order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food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337560" y="283464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2044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search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126480" y="283464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0936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rating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915400" y="283464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09828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user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productListItems*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3337560" y="370332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044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identityMap*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126480" y="370332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0936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Feastly - XDM**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7091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* Custom Code   ** XDM Object (builds the final payload)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BUILDING BLOCKS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Elements in the property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Each "Feastly - ..." element reads one path from the data layer. Here "Feastly - commerce" returns the merged commerce object.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333547" y="1856232"/>
            <a:ext cx="9521858" cy="4654296"/>
          </a:xfrm>
          <a:prstGeom prst="roundRect">
            <a:avLst>
              <a:gd name="adj" fmla="val 1179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  <a:effectLst>
            <a:outerShdw sx="100000" sy="100000" kx="0" ky="0" algn="bl" rotWithShape="0" blurRad="88900" dist="38100" dir="5400000">
              <a:srgbClr val="8A8A8A">
                <a:alpha val="40000"/>
              </a:srgbClr>
            </a:outerShdw>
          </a:effectLst>
        </p:spPr>
      </p:sp>
      <p:pic>
        <p:nvPicPr>
          <p:cNvPr id="6" name="Image 0" descr="screenshots/data-ele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7555" y="1920240"/>
            <a:ext cx="9393842" cy="4526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BUILDING BLOCKS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Rules — one per event (13)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Each rule: WHEN a data-layer event fires &gt; SEND the XDM event to the Edge.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05740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Page View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37560" y="196596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7288" y="205740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47288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867912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View Menu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0" y="196596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36208" y="205740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6208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56832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Search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915400" y="196596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25128" y="205740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25128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445752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Dish View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260604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269748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78992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Add To Cart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337560" y="260604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47288" y="269748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47288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867912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Remove From Cart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126480" y="260604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36208" y="269748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236208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656832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Checkout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915400" y="260604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25128" y="269748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025128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8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445752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Purchase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48640" y="32461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8368" y="333756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8368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9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078992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Order Rating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3337560" y="32461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47288" y="333756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447288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10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3867912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Login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6126480" y="32461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36208" y="333756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236208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11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656832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Signup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8915400" y="32461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25128" y="333756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025128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12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9445752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Profile Update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48640" y="388620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8368" y="397764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58368" y="3977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13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78992" y="3886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Newsletter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BUILDING BLOCKS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Rules in the property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One rule per user action. Each rule listens for a data-layer event, then sends the event to the Edge.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583624" y="1856232"/>
            <a:ext cx="9021704" cy="4654296"/>
          </a:xfrm>
          <a:prstGeom prst="roundRect">
            <a:avLst>
              <a:gd name="adj" fmla="val 1179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  <a:effectLst>
            <a:outerShdw sx="100000" sy="100000" kx="0" ky="0" algn="bl" rotWithShape="0" blurRad="88900" dist="38100" dir="5400000">
              <a:srgbClr val="8A8A8A">
                <a:alpha val="40000"/>
              </a:srgbClr>
            </a:outerShdw>
          </a:effectLst>
        </p:spPr>
      </p:sp>
      <p:pic>
        <p:nvPicPr>
          <p:cNvPr id="6" name="Image 0" descr="screenshots/rules-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7632" y="1920240"/>
            <a:ext cx="8893688" cy="4526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BUILDING BLOCKS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Inside a rule: it listens, then it sends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EVENT — listens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84632" y="1977656"/>
            <a:ext cx="5340096" cy="4182847"/>
          </a:xfrm>
          <a:prstGeom prst="roundRect">
            <a:avLst>
              <a:gd name="adj" fmla="val 1312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  <a:effectLst>
            <a:outerShdw sx="100000" sy="100000" kx="0" ky="0" algn="bl" rotWithShape="0" blurRad="88900" dist="38100" dir="5400000">
              <a:srgbClr val="8A8A8A">
                <a:alpha val="40000"/>
              </a:srgbClr>
            </a:outerShdw>
          </a:effectLst>
        </p:spPr>
      </p:sp>
      <p:pic>
        <p:nvPicPr>
          <p:cNvPr id="6" name="Image 0" descr="screenshots/rule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41664"/>
            <a:ext cx="5212080" cy="405483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0" y="1554480"/>
            <a:ext cx="5239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ACTION — sends the XDM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336792" y="2832659"/>
            <a:ext cx="5367528" cy="2472841"/>
          </a:xfrm>
          <a:prstGeom prst="roundRect">
            <a:avLst>
              <a:gd name="adj" fmla="val 2219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  <a:effectLst>
            <a:outerShdw sx="100000" sy="100000" kx="0" ky="0" algn="bl" rotWithShape="0" blurRad="88900" dist="38100" dir="5400000">
              <a:srgbClr val="8A8A8A">
                <a:alpha val="40000"/>
              </a:srgbClr>
            </a:outerShdw>
          </a:effectLst>
        </p:spPr>
      </p:sp>
      <p:pic>
        <p:nvPicPr>
          <p:cNvPr id="9" name="Image 1" descr="screenshots/rule-action-xd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896667"/>
            <a:ext cx="5239512" cy="234482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IDENTITY &amp; PROFILE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Anonymous &gt; Known: how one profile forms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" y="22860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2C2C2C"/>
          </a:solidFill>
          <a:ln w="15875">
            <a:solidFill>
              <a:srgbClr val="EB1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🕶️  Anonymous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ECID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set by the Web SDK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97280" y="393192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2C2C2C"/>
          </a:solidFill>
          <a:ln w="15875">
            <a:solidFill>
              <a:srgbClr val="EB1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4114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👤  Signed 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480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Email identity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846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added to identityMap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200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B1000"/>
                </a:solidFill>
              </a:rPr>
              <a:t>▸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5852160" y="2834640"/>
            <a:ext cx="5120640" cy="2103120"/>
          </a:xfrm>
          <a:prstGeom prst="roundRect">
            <a:avLst>
              <a:gd name="adj" fmla="val 5217"/>
            </a:avLst>
          </a:prstGeom>
          <a:solidFill>
            <a:srgbClr val="EB10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52160" y="30632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🧑‍🤝‍🧑  One AEP Profile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3566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E9E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Identity graph stitches ECID ↔ Email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3931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+ attributes (loyalty, diet, cuisine, city)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+ full event history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This stitching is exactly what support debugs when "two profiles should be one."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SEE IT LIVE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Every action becomes an event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Browse &gt; add to cart &gt; checkout &gt; purchase &gt; rate. Each click pushes a clean event to the data layer, which the console prints.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84632" y="2716991"/>
            <a:ext cx="5522976" cy="2795619"/>
          </a:xfrm>
          <a:prstGeom prst="roundRect">
            <a:avLst>
              <a:gd name="adj" fmla="val 1962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  <a:effectLst>
            <a:outerShdw sx="100000" sy="100000" kx="0" ky="0" algn="bl" rotWithShape="0" blurRad="88900" dist="38100" dir="5400000">
              <a:srgbClr val="8A8A8A">
                <a:alpha val="40000"/>
              </a:srgbClr>
            </a:outerShdw>
          </a:effectLst>
        </p:spPr>
      </p:sp>
      <p:pic>
        <p:nvPicPr>
          <p:cNvPr id="6" name="Image 0" descr="screenshots/site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0999"/>
            <a:ext cx="5394960" cy="266760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153912" y="2786713"/>
            <a:ext cx="5550408" cy="2656173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  <a:effectLst>
            <a:outerShdw sx="100000" sy="100000" kx="0" ky="0" algn="bl" rotWithShape="0" blurRad="88900" dist="38100" dir="5400000">
              <a:srgbClr val="8A8A8A">
                <a:alpha val="40000"/>
              </a:srgbClr>
            </a:outerShdw>
          </a:effectLst>
        </p:spPr>
      </p:sp>
      <p:pic>
        <p:nvPicPr>
          <p:cNvPr id="8" name="Image 1" descr="screenshots/conso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850721"/>
            <a:ext cx="5422392" cy="252815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VALIDATE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Adobe Assurance — watch it 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Connect a session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Scan/enter the URL to attach the site.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See the chain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layer event &gt; rule fired &gt; sendEvent.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Inspect the XDM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Confirm the exact payload leaving the browser.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Edge response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200 means the Edge accepted the event.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1691640"/>
            <a:ext cx="5696712" cy="4480560"/>
          </a:xfrm>
          <a:prstGeom prst="roundRect">
            <a:avLst>
              <a:gd name="adj" fmla="val 1633"/>
            </a:avLst>
          </a:prstGeom>
          <a:solidFill>
            <a:srgbClr val="F2F2F2"/>
          </a:solidFill>
          <a:ln w="15875">
            <a:solidFill>
              <a:srgbClr val="EB1000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943600" y="338328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B10C00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5148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Assurance — the event list with a "purchase" selected, showing the XDM payload + Edge 200.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VERIFY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Confirm ingestion in AEP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Streaming end-to-end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Watch records arrive in near real time.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Feastly Order Event Dataset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157 records ingested through Adobe Data Collection.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Zero failed / skipped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healthy pipeline from Edge to Profile.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Next: the profile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Those events become a real customer profile.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879592" y="2787967"/>
            <a:ext cx="5824728" cy="2287907"/>
          </a:xfrm>
          <a:prstGeom prst="roundRect">
            <a:avLst>
              <a:gd name="adj" fmla="val 2398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  <a:effectLst>
            <a:outerShdw sx="100000" sy="100000" kx="0" ky="0" algn="bl" rotWithShape="0" blurRad="88900" dist="38100" dir="5400000">
              <a:srgbClr val="8A8A8A">
                <a:alpha val="40000"/>
              </a:srgbClr>
            </a:outerShdw>
          </a:effectLst>
        </p:spPr>
      </p:sp>
      <p:pic>
        <p:nvPicPr>
          <p:cNvPr id="21" name="Image 0" descr="screenshots/monito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851975"/>
            <a:ext cx="5696712" cy="2159891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VERIFY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result: one stitched profile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Looking up prince@foodie.com returns a single profile whose Linked identities include the email and both ECIDs (anonymous + signed-in).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64491" y="1856232"/>
            <a:ext cx="9859971" cy="4654296"/>
          </a:xfrm>
          <a:prstGeom prst="roundRect">
            <a:avLst>
              <a:gd name="adj" fmla="val 1179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  <a:effectLst>
            <a:outerShdw sx="100000" sy="100000" kx="0" ky="0" algn="bl" rotWithShape="0" blurRad="88900" dist="38100" dir="5400000">
              <a:srgbClr val="8A8A8A">
                <a:alpha val="40000"/>
              </a:srgbClr>
            </a:outerShdw>
          </a:effectLst>
        </p:spPr>
      </p:sp>
      <p:pic>
        <p:nvPicPr>
          <p:cNvPr id="6" name="Image 0" descr="screenshots/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8499" y="1920240"/>
            <a:ext cx="9731955" cy="4526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VERIFY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identity graph,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graph viewer shows the email linked to two ECIDs, sourced from the Feastly Order Event Dataset.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2166" y="1856232"/>
            <a:ext cx="10264620" cy="4654296"/>
          </a:xfrm>
          <a:prstGeom prst="roundRect">
            <a:avLst>
              <a:gd name="adj" fmla="val 1179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  <a:effectLst>
            <a:outerShdw sx="100000" sy="100000" kx="0" ky="0" algn="bl" rotWithShape="0" blurRad="88900" dist="38100" dir="5400000">
              <a:srgbClr val="8A8A8A">
                <a:alpha val="40000"/>
              </a:srgbClr>
            </a:outerShdw>
          </a:effectLst>
        </p:spPr>
      </p:sp>
      <p:pic>
        <p:nvPicPr>
          <p:cNvPr id="6" name="Image 0" descr="screenshots/identity-gra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6174" y="1920240"/>
            <a:ext cx="10136604" cy="4526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SUPPORT PLAYBOOK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When data is missing — where to look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DECE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90195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Rule not firing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26771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Event "listen for" ≠ the data-layer name (camelCase, no dots).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7356" y="173736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DECE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05956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054596" y="190195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Empty / wrong XDM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54596" y="226771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element path typo, or field not in the schema.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DECE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31927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No data in AEP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68503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Datastream missing the AEP service, or wrong dataset.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77356" y="315468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DECE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595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54596" y="331927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Identity not stitching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054596" y="368503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Email not marked as an identity, or not in identityMap.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DECE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73659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Nothing at all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510235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Tags embed not on the page / wrong environment build.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77356" y="457200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DECE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5956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054596" y="473659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Duplicated metrics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054596" y="510235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Same event fired twice, or state bleeding between events.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ONE MENTAL MODEL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If you remember one thing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“The website only speaks the data layer. Tags translates it to XDM, the Web SDK ships it to the datastream, and the datastream routes it to AEP.”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1148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2C2C2C"/>
          </a:solidFill>
          <a:ln w="12700">
            <a:solidFill>
              <a:srgbClr val="EB1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layer = what happened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37560" y="41148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2C2C2C"/>
          </a:solidFill>
          <a:ln w="12700">
            <a:solidFill>
              <a:srgbClr val="EB1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elements = variables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41148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2C2C2C"/>
          </a:solidFill>
          <a:ln w="12700">
            <a:solidFill>
              <a:srgbClr val="EB1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Rules = when &gt; send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15400" y="41148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2C2C2C"/>
          </a:solidFill>
          <a:ln w="12700">
            <a:solidFill>
              <a:srgbClr val="EB1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9828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Datastream = where it goes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4846320"/>
            <a:ext cx="3108960" cy="3108960"/>
          </a:xfrm>
          <a:prstGeom prst="ellipse">
            <a:avLst/>
          </a:prstGeom>
          <a:solidFill>
            <a:srgbClr val="FDECE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097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🍔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Try it yourself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Clone the repo, run it, then point it at your own Adobe via the ⚙ Adobe Config panel.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931920"/>
            <a:ext cx="8686800" cy="731520"/>
          </a:xfrm>
          <a:prstGeom prst="roundRect">
            <a:avLst>
              <a:gd name="adj" fmla="val 10000"/>
            </a:avLst>
          </a:prstGeom>
          <a:solidFill>
            <a:srgbClr val="1F1F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github.com/princeparvat80/aep-data-collection-food-demo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92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Run:  npm install  &gt;  npm run dev  &gt;  http://localhost:5175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Questions? Let's open the console and trace an event together.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Feastly — Data Collection to AEP</dc:title>
  <dc:subject>PptxGenJS Presentation</dc:subject>
  <dc:creator>Feastly Demo</dc:creator>
  <cp:lastModifiedBy>Feastly Demo</cp:lastModifiedBy>
  <cp:revision>1</cp:revision>
  <dcterms:created xsi:type="dcterms:W3CDTF">2026-09-27T19:25:37Z</dcterms:created>
  <dcterms:modified xsi:type="dcterms:W3CDTF">2026-09-27T19:25:37Z</dcterms:modified>
</cp:coreProperties>
</file>