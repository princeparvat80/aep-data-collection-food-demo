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Feastly is a fake food-ordering site we built purely to show how the Data Collection side works and how data arrives in AEP. Our team lives in AEP; today we look one step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as: you already debug AEP; this gives you the vocabulary and the map of the collection side so you can triage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the decoupling: the site is dumb; Adobe is where the shaping and routing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linger — this is a reference slide. Tell people it maps to the flow: data layer -&gt; data elements -&gt; rules -&gt; web sdk -&gt; datastream -&gt; schema/identity/profile.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before we look at the actual config, let us learn the vocabulary visually.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property is just a container. Everything else (extensions, data elements, rules, libraries) lives inside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Extensions add features. Feastly needs just two: the Web SDK (to send) and the Client Data Layer (to listen).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element = variable. Read a value from the data layer once; reuse in many rules and in the XDM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just Event -&gt; Condition -&gt; Action. Our rules mostly skip the condition: on &lt;event&gt; -&gt; Send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Library = a shopping bag of changes. Build = compile. Then promote dev -&gt; staging -&gt; prod. We use dev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one call to the Edge, fanned out server-side by the datastream. Add/remove destinations without code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= the contract. If a field is not in the schema, it will not land. Show the custom field group and the Email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datastream is where data is routed server-side. Support tip: "data not in AEP" often = AEP service missing here, or wrong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property holds extensions, data elements and rules. The embed script is what the site loads (via our Adobe Config panel).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data elements are like variables; rules are the functions that use them. 8 read the data layer, 2 are custom code (products array, identity), 1 assembles the XDM.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teaching point: the Event LISTENS for the camelCase data-layer name; the Action TYPE is the dotted XDM eventType. Mixing these up is the #1 "rule not firing"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sign-in the person is only an ECID. After sign-in the Email joins the identityMap and AEP merges the two into one profile via the identity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DevTools console live if you can. Show a purchase and expand the object so they see commerce.order, productListItems, identityMap and the attributes.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Assurance is the bridge between the browser and AEP. If it looks good here but not in AEP, the issue is datastream/dataset config, not collection.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home turf for the team. Tie it back: the fields they see here are exactly the ones defined in the schema and populated by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team will screenshot for their own reference. Walk the funnel top-down: browser (Assurance) → datastream → dataset →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the one-liner. This is the takeaway that lets them reason about any collection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inviting them to clone and try; offer to pair on wiring it to a sandbox.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EB1000"/>
          </a:solidFill>
          <a:ln w="12700">
            <a:solidFill>
              <a:srgbClr val="EB1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97680"/>
            <a:ext cx="2743200" cy="2743200"/>
          </a:xfrm>
          <a:prstGeom prst="ellipse">
            <a:avLst/>
          </a:prstGeom>
          <a:solidFill>
            <a:srgbClr val="FFA311"/>
          </a:solidFill>
          <a:ln w="12700">
            <a:solidFill>
              <a:srgbClr val="FF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🍔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A311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Feastly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Understanding Data Collection → AEP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How a website sends streaming events, profile attributes and identity into Adobe Experience Platform — the simple, standard way.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9B9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hands-on demo for the AEP Support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WHY THIS SESSION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We know AEP. Today we look one step upstream.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39112"/>
            <a:ext cx="640080" cy="64008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goal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920240"/>
            <a:ext cx="6519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See how website data is collected and shaped before it ever reaches AEP.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456432"/>
            <a:ext cx="640080" cy="64008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456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gap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337560"/>
            <a:ext cx="6519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Support lives in AEP, but most "data is missing" issues start in Data Collection.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873752"/>
            <a:ext cx="640080" cy="64008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73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754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payoff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754880"/>
            <a:ext cx="6519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Know where to look — data layer, rules, data elements, datastream — when data is wrong or absent.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From a click to a profile in AEP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F1F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48056" y="25420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Website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9496" y="3438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User clicks / views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67128" y="29260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1000"/>
                </a:solidFill>
              </a:rPr>
              <a:t>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59152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F1F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59152" y="25420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359152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50592" y="3438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adobeDataLayer.push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078224" y="29260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1000"/>
                </a:solidFill>
              </a:rPr>
              <a:t>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70248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F1F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70248" y="25420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270248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Tags (Launch)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438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Rules + Data Elements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9260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1000"/>
                </a:solidFill>
              </a:rPr>
              <a:t>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1344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F1F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81344" y="25420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181344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Web SDK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3438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sendEvent (XDM)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900416" y="29260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1000"/>
                </a:solidFill>
              </a:rPr>
              <a:t>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92440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F1F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92440" y="25420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Datastream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3438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Edge routing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811512" y="29260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1000"/>
                </a:solidFill>
              </a:rPr>
              <a:t>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03536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EB10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03536" y="25420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10003536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AEP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094976" y="3438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Events + Profile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480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website only writes to the data layer. Everything downstream is configured in Adobe — no code changes to add or fix tracking.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This is the single most important slide — keep coming back to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KEY CONCEPTS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vocabulary in one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28016" cy="128016"/>
          </a:xfrm>
          <a:prstGeom prst="ellipse">
            <a:avLst/>
          </a:prstGeom>
          <a:solidFill>
            <a:srgbClr val="B10C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81051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21408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JS object (adobeDataLayer) the site pushes events into.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5956" y="1874520"/>
            <a:ext cx="128016" cy="128016"/>
          </a:xfrm>
          <a:prstGeom prst="ellipse">
            <a:avLst/>
          </a:prstGeom>
          <a:solidFill>
            <a:srgbClr val="0AA3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34556" y="181051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35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Extension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05956" y="2121408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plug-in in Tags (e.g. Web SDK, Client Data Layer).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53512"/>
            <a:ext cx="128016" cy="128016"/>
          </a:xfrm>
          <a:prstGeom prst="ellipse">
            <a:avLst/>
          </a:prstGeom>
          <a:solidFill>
            <a:srgbClr val="3A63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889504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3F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Element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004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reusable "variable" that reads a value (from the data layer).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2770632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5956" y="2953512"/>
            <a:ext cx="128016" cy="128016"/>
          </a:xfrm>
          <a:prstGeom prst="ellipse">
            <a:avLst/>
          </a:prstGeom>
          <a:solidFill>
            <a:srgbClr val="C67F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34556" y="2889504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7F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Rule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05956" y="32004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When X happens → do Y (e.g. on "purchase" → send event).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032504"/>
            <a:ext cx="128016" cy="128016"/>
          </a:xfrm>
          <a:prstGeom prst="ellipse">
            <a:avLst/>
          </a:prstGeom>
          <a:solidFill>
            <a:srgbClr val="C2149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3968496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49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Schema (XDM)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79392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agreed structure/shape of the data in AEP.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7356" y="3849624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05956" y="4032504"/>
            <a:ext cx="128016" cy="128016"/>
          </a:xfrm>
          <a:prstGeom prst="ellipse">
            <a:avLst/>
          </a:prstGeom>
          <a:solidFill>
            <a:srgbClr val="0AA3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34556" y="3968496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35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Datastream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05956" y="4279392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Server-side config that routes Edge data to AEP (and others).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928616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111496"/>
            <a:ext cx="128016" cy="128016"/>
          </a:xfrm>
          <a:prstGeom prst="ellipse">
            <a:avLst/>
          </a:prstGeom>
          <a:solidFill>
            <a:srgbClr val="3A63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5840" y="504748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3F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Identity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358384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Who the user is — ECID (anon) + Email (known).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77356" y="4928616"/>
            <a:ext cx="536295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05956" y="5111496"/>
            <a:ext cx="128016" cy="128016"/>
          </a:xfrm>
          <a:prstGeom prst="ellipse">
            <a:avLst/>
          </a:prstGeom>
          <a:solidFill>
            <a:srgbClr val="B10C0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34556" y="504748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Profile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505956" y="5358384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unified person in AEP: identities + attributes + events.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06240"/>
            <a:ext cx="3474720" cy="347472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280160"/>
            <a:ext cx="3108960" cy="310896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A311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Foundations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words your team will hear — explained simply, with pictures.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FOUNDATIONS ·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What is a Tag (Launch) property?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Your tracking "control room" — one container that holds everything you configure.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3931920"/>
          </a:xfrm>
          <a:prstGeom prst="roundRect">
            <a:avLst>
              <a:gd name="adj" fmla="val 2326"/>
            </a:avLst>
          </a:prstGeom>
          <a:solidFill>
            <a:srgbClr val="F7F7F7"/>
          </a:solidFill>
          <a:ln w="19050">
            <a:solidFill>
              <a:srgbClr val="EB1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🏷️  Tag Property — “Feastly Web”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2384298" cy="2743200"/>
          </a:xfrm>
          <a:prstGeom prst="roundRect">
            <a:avLst>
              <a:gd name="adj" fmla="val 345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044952"/>
            <a:ext cx="238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93592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Extensions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931920"/>
            <a:ext cx="20185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Plug-ins that add powers (Web SDK, Client Data Layer).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73018" y="2880360"/>
            <a:ext cx="2384298" cy="2743200"/>
          </a:xfrm>
          <a:prstGeom prst="roundRect">
            <a:avLst>
              <a:gd name="adj" fmla="val 345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73018" y="3044952"/>
            <a:ext cx="238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178" y="3593592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Elements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755898" y="3931920"/>
            <a:ext cx="20185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Reusable variables that read values from the page.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1636" y="2880360"/>
            <a:ext cx="2384298" cy="2743200"/>
          </a:xfrm>
          <a:prstGeom prst="roundRect">
            <a:avLst>
              <a:gd name="adj" fmla="val 345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31636" y="3044952"/>
            <a:ext cx="238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368796" y="3593592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Rules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14516" y="3931920"/>
            <a:ext cx="20185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When X happens → do Y (send an event).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90254" y="2880360"/>
            <a:ext cx="2384298" cy="2743200"/>
          </a:xfrm>
          <a:prstGeom prst="roundRect">
            <a:avLst>
              <a:gd name="adj" fmla="val 345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90254" y="3044952"/>
            <a:ext cx="238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027414" y="3593592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Libraries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073134" y="3931920"/>
            <a:ext cx="20185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Bundles of changes you build &amp; publish.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FOUNDATIONS ·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What is an Extension?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plug-in that gives the property new capabilities — like installing an app on your phone.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53384" cy="2377440"/>
          </a:xfrm>
          <a:prstGeom prst="roundRect">
            <a:avLst>
              <a:gd name="adj" fmla="val 3462"/>
            </a:avLst>
          </a:prstGeom>
          <a:solidFill>
            <a:srgbClr val="FDEC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50592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🧱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99232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3087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Built-in basics: custom code, page-load events.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7784" y="2286000"/>
            <a:ext cx="3453384" cy="2377440"/>
          </a:xfrm>
          <a:prstGeom prst="roundRect">
            <a:avLst>
              <a:gd name="adj" fmla="val 3462"/>
            </a:avLst>
          </a:prstGeom>
          <a:solidFill>
            <a:srgbClr val="FDEC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67784" y="2450592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04944" y="2999232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AEP Web SDK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50664" y="3337560"/>
            <a:ext cx="3087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Sends events to the Edge / Datastream.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6928" y="2286000"/>
            <a:ext cx="3453384" cy="2377440"/>
          </a:xfrm>
          <a:prstGeom prst="roundRect">
            <a:avLst>
              <a:gd name="adj" fmla="val 3462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6928" y="2450592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24088" y="2999232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 Client Data Layer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3337560"/>
            <a:ext cx="3087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Listens to adobeDataLayer pushes.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We only need these two ➜ AEP Web SDK  +  Adobe Client Data Layer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FOUNDATIONS ·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What is a Data Element?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named, reusable "variable" that grabs a value once — so every rule can reuse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311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user: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email: "a@b.com"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B1000"/>
                </a:solidFill>
              </a:rPr>
              <a:t>▸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0" y="246888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633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182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Element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“Feastly - user”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reads user from the data layer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2468880"/>
            <a:ext cx="3291840" cy="1828800"/>
          </a:xfrm>
          <a:prstGeom prst="roundRect">
            <a:avLst>
              <a:gd name="adj" fmla="val 5000"/>
            </a:avLst>
          </a:prstGeom>
          <a:ln w="19050">
            <a:solidFill>
              <a:srgbClr val="EB1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B1000"/>
                </a:solidFill>
              </a:rPr>
              <a:t>▸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595360" y="2468880"/>
            <a:ext cx="3044952" cy="1828800"/>
          </a:xfrm>
          <a:prstGeom prst="roundRect">
            <a:avLst>
              <a:gd name="adj" fmla="val 4500"/>
            </a:avLst>
          </a:prstGeom>
          <a:solidFill>
            <a:srgbClr val="FDEC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2633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3182112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Reused in Rules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35204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Every rule references it — define once, use everywhere.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Analogy: like a saved contact — set the number once, dial it from anywhere.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FOUNDATIONS ·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What is a Rule?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Simple logic: WHEN something happens → (optionally IF a condition) → DO an action.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EB1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①  EVENT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When…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“purchase” is pushed to the data layer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B1000"/>
                </a:solidFill>
              </a:rPr>
              <a:t>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237744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FFA3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②  CONDITION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If… (optional)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e.g. only on the checkout page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B1000"/>
                </a:solidFill>
              </a:rPr>
              <a:t>▸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F1F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3816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③  ACTION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Then do…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Send the event to the Edge (Web SDK)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⚠️  Event listens for the data-layer name (purchase). Action Type = the XDM eventType (commerce.purchases). Don't mix them up!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FOUNDATIONS ·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Publishing Flow &amp; Libraries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Library bundles your changes; you Build it, then promote it through environments.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3796" y="2651760"/>
            <a:ext cx="1691640" cy="2011680"/>
          </a:xfrm>
          <a:prstGeom prst="roundRect">
            <a:avLst>
              <a:gd name="adj" fmla="val 486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" y="2816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90956" y="33649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Changes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36676" y="37033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Edit 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elements &amp; rules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318004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B1000"/>
                </a:solidFill>
              </a:rPr>
              <a:t>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91740" y="2651760"/>
            <a:ext cx="1691640" cy="2011680"/>
          </a:xfrm>
          <a:prstGeom prst="roundRect">
            <a:avLst>
              <a:gd name="adj" fmla="val 4865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91740" y="2816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628900" y="33649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Library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674620" y="37033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Bundle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changes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155948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B1000"/>
                </a:solidFill>
              </a:rPr>
              <a:t>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29684" y="2651760"/>
            <a:ext cx="1691640" cy="2011680"/>
          </a:xfrm>
          <a:prstGeom prst="roundRect">
            <a:avLst>
              <a:gd name="adj" fmla="val 4865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29684" y="2816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🔨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466844" y="33649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Build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12564" y="37033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Compile to 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script file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93892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B1000"/>
                </a:solidFill>
              </a:rPr>
              <a:t>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67628" y="2651760"/>
            <a:ext cx="1691640" cy="2011680"/>
          </a:xfrm>
          <a:prstGeom prst="roundRect">
            <a:avLst>
              <a:gd name="adj" fmla="val 4865"/>
            </a:avLst>
          </a:prstGeom>
          <a:solidFill>
            <a:srgbClr val="FDEC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67628" y="2816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304788" y="33649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Development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350508" y="37033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Test on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dev site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831836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B1000"/>
                </a:solidFill>
              </a:rPr>
              <a:t>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05572" y="2651760"/>
            <a:ext cx="1691640" cy="2011680"/>
          </a:xfrm>
          <a:prstGeom prst="roundRect">
            <a:avLst>
              <a:gd name="adj" fmla="val 4865"/>
            </a:avLst>
          </a:prstGeom>
          <a:solidFill>
            <a:srgbClr val="FDEC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5572" y="2816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🚦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142732" y="33649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Staging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188452" y="37033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QA / approval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669780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B1000"/>
                </a:solidFill>
              </a:rPr>
              <a:t>▸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843516" y="2651760"/>
            <a:ext cx="1691640" cy="2011680"/>
          </a:xfrm>
          <a:prstGeom prst="roundRect">
            <a:avLst>
              <a:gd name="adj" fmla="val 4865"/>
            </a:avLst>
          </a:prstGeom>
          <a:solidFill>
            <a:srgbClr val="FDEC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43516" y="2816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9980676" y="33649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Production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10026396" y="37033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Live to users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For this demo we build to Development and embed that script — the same flow scales to Staging → Production.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A311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FOUNDATIONS ·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Datastream pipeline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Web SDK sends ONE event to the Edge. The datastream decides which Adobe apps receive it — server-side.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2C2C2C"/>
          </a:solidFill>
          <a:ln w="15875">
            <a:solidFill>
              <a:srgbClr val="EB1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🖥️ Browser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Web SDK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B1000"/>
                </a:solidFill>
              </a:rPr>
              <a:t>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11880" y="24688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C2C2C"/>
          </a:solidFill>
          <a:ln w="15875">
            <a:solidFill>
              <a:srgbClr val="EB1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🔀 Edge Network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+ Datastream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1000"/>
                </a:solidFill>
              </a:rPr>
              <a:t>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03720" y="214884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EB1000"/>
          </a:solidFill>
          <a:ln w="12700">
            <a:solidFill>
              <a:srgbClr val="EB1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0" y="2258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☁️ AEP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Profiles + datasets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1000"/>
                </a:solidFill>
              </a:rPr>
              <a:t>▸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03720" y="333756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2C2C2C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3447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📊 Analytics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Reports (optional)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1000"/>
                </a:solidFill>
              </a:rPr>
              <a:t>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03720" y="452628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2C2C2C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🎯 Target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Personalization (optional)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Feastly enables only AEP — but the same event could feed all three without touching the website.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COMPONENT 1 · AEP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XDM Schema — the shape of the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46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Class: ExperienceEvent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756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type of record — a time-stamped event.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Field groups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169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Web SDK EE + Commerce + custom "Feastly Details".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Identity: Email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58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Marked as an identity so AEP can stitch people.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Dataset → Profile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994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Enabled for Profile so events build real-time profiles.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1691640"/>
            <a:ext cx="5696712" cy="4480560"/>
          </a:xfrm>
          <a:prstGeom prst="roundRect">
            <a:avLst>
              <a:gd name="adj" fmla="val 1633"/>
            </a:avLst>
          </a:prstGeom>
          <a:solidFill>
            <a:srgbClr val="F2F2F2"/>
          </a:solidFill>
          <a:ln w="15875">
            <a:solidFill>
              <a:srgbClr val="EB100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943600" y="338328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  </a:t>
            </a:r>
            <a:pPr algn="ctr" indent="0" marL="0">
              <a:buNone/>
            </a:pPr>
            <a:r>
              <a:rPr lang="en-US" sz="1300" b="1" dirty="0">
                <a:solidFill>
                  <a:srgbClr val="B10C00"/>
                </a:solidFill>
              </a:rPr>
              <a:t>SCREENSHOT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84048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Schema "Feastly Order Event" — show the field tree (_yourtenant.food / attributes / rating, commerce, identityMap).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COMPONENT 2 · DATA COLLECTION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Datastream — the routing switchboard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46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One datastream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756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"Feastly Web SDK" — the server-side config.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 Experience Platform service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169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Added and pointed at the Feastly dataset.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Datastream ID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58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Web SDK sends to this ID at the Edge.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Extensible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994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Same event can also go to Analytics, Target, etc.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1691640"/>
            <a:ext cx="5696712" cy="4480560"/>
          </a:xfrm>
          <a:prstGeom prst="roundRect">
            <a:avLst>
              <a:gd name="adj" fmla="val 1633"/>
            </a:avLst>
          </a:prstGeom>
          <a:solidFill>
            <a:srgbClr val="F2F2F2"/>
          </a:solidFill>
          <a:ln w="15875">
            <a:solidFill>
              <a:srgbClr val="EB100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943600" y="338328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  </a:t>
            </a:r>
            <a:pPr algn="ctr" indent="0" marL="0">
              <a:buNone/>
            </a:pPr>
            <a:r>
              <a:rPr lang="en-US" sz="1300" b="1" dirty="0">
                <a:solidFill>
                  <a:srgbClr val="B10C00"/>
                </a:solidFill>
              </a:rPr>
              <a:t>SCREENSHOT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84048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Datastream "Feastly Web SDK" — show the AEP service added + the Datastream ID.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COMPONENT 3 · DATA COLLECTION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Tag (Launch) property + extensions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46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Property "Feastly Web"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756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container for all collection logic.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AEP Web SDK extension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169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Configured with the datastream + Org ID.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 Client Data Layer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58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Listens to adobeDataLayer pushes.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Publish → embed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994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Build a library, embed the script on the site.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1691640"/>
            <a:ext cx="5696712" cy="4480560"/>
          </a:xfrm>
          <a:prstGeom prst="roundRect">
            <a:avLst>
              <a:gd name="adj" fmla="val 1633"/>
            </a:avLst>
          </a:prstGeom>
          <a:solidFill>
            <a:srgbClr val="F2F2F2"/>
          </a:solidFill>
          <a:ln w="15875">
            <a:solidFill>
              <a:srgbClr val="EB100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943600" y="338328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  </a:t>
            </a:r>
            <a:pPr algn="ctr" indent="0" marL="0">
              <a:buNone/>
            </a:pPr>
            <a:r>
              <a:rPr lang="en-US" sz="1300" b="1" dirty="0">
                <a:solidFill>
                  <a:srgbClr val="B10C00"/>
                </a:solidFill>
              </a:rPr>
              <a:t>SCREENSHOT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84048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Tags property "Feastly Web" — show Extensions (Web SDK + Client Data Layer) installed.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BUILDING BLOCKS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Elements — reusable variables (11)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Each reads one value from the data layer, so rules stay simple and consistent.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page name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7560" y="196596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commerce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product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915400" y="196596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09828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order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food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337560" y="283464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044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search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rating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915400" y="283464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user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productListItems*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337560" y="370332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52044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identityMap*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26480" y="3703320"/>
            <a:ext cx="2606040" cy="6858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Feastly - XDM**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5875">
            <a:solidFill>
              <a:srgbClr val="EB1000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548640" y="49606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  </a:t>
            </a:r>
            <a:pPr algn="ctr" indent="0" marL="0">
              <a:buNone/>
            </a:pPr>
            <a:r>
              <a:rPr lang="en-US" sz="1300" b="1" dirty="0">
                <a:solidFill>
                  <a:srgbClr val="B10C00"/>
                </a:solidFill>
              </a:rPr>
              <a:t>SCREENSHOT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4178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Elements list in Tags — show the 11 "Feastly - ..." elements.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5720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* Custom Code   ** XDM Object (builds the final payload)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THE BUILDING BLOCKS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Rules — one per event (13)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Each rule: WHEN a data-layer event fires → SEND the XDM event to the Edge.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5740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Page View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9659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205740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47288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View Menu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9659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205740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6208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56832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Search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15400" y="19659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25128" y="205740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25128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445752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Dish View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69748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2606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Add To Cart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337560" y="26060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269748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47288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867912" y="2606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Remove From Cart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26480" y="26060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6208" y="269748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36208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56832" y="2606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Checkout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915400" y="26060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25128" y="269748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025128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445752" y="2606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Purchase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32461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333756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836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78992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Order Rating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337560" y="32461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47288" y="333756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44728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3867912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Login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126480" y="32461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6208" y="333756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23620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11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656832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Signup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915400" y="32461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25128" y="333756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0251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9445752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Profile Update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48640" y="38862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" y="3977640"/>
            <a:ext cx="320040" cy="320040"/>
          </a:xfrm>
          <a:prstGeom prst="ellipse">
            <a:avLst/>
          </a:prstGeom>
          <a:solidFill>
            <a:srgbClr val="FFA31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58368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13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78992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Newsletter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548640" y="470916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5875">
            <a:solidFill>
              <a:srgbClr val="EB1000"/>
            </a:solidFill>
            <a:prstDash val="dash"/>
          </a:ln>
        </p:spPr>
      </p:sp>
      <p:sp>
        <p:nvSpPr>
          <p:cNvPr id="58" name="Text 56"/>
          <p:cNvSpPr txBox="1"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  </a:t>
            </a:r>
            <a:pPr algn="ctr" indent="0" marL="0">
              <a:buNone/>
            </a:pPr>
            <a:r>
              <a:rPr lang="en-US" sz="1300" b="1" dirty="0">
                <a:solidFill>
                  <a:srgbClr val="B10C00"/>
                </a:solidFill>
              </a:rPr>
              <a:t>SCREENSHOT</a:t>
            </a:r>
            <a:endParaRPr lang="en-US" sz="20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53949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single rule (e.g. "Feastly - Purchase") — show its Event (listen for "purchase") + Action (Send event, type commerce.purchases).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A311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IDENTITY &amp; PROFILE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Anonymous → Known: how one profile 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2C2C2C"/>
          </a:solidFill>
          <a:ln w="15875">
            <a:solidFill>
              <a:srgbClr val="EB1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🕶️  Anonymous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311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ECID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set by the Web SDK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39319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2C2C2C"/>
          </a:solidFill>
          <a:ln w="15875">
            <a:solidFill>
              <a:srgbClr val="EB1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👤  Signed 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480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311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Email identity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846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FC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added to identityMap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B1000"/>
                </a:solidFill>
              </a:rPr>
              <a:t>▸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5852160" y="28346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EB1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🧑‍🤝‍🧑  One AEP Profile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E9E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Identity graph stitches ECID ↔ Email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931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+ attributes (loyalty, diet, cuisine, city)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+ full event history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This stitching is exactly what support debugs when "two profiles should be one."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SEE IT LIVE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Every action becomes an event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Browse → add to cart → checkout → purchase → rate. Each click pushes a clean event to the data layer, which the console prints.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 w="15875">
            <a:solidFill>
              <a:srgbClr val="EB100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  </a:t>
            </a:r>
            <a:pPr algn="ctr" indent="0" marL="0">
              <a:buNone/>
            </a:pPr>
            <a:r>
              <a:rPr lang="en-US" sz="1300" b="1" dirty="0">
                <a:solidFill>
                  <a:srgbClr val="B10C00"/>
                </a:solidFill>
              </a:rPr>
              <a:t>SCREENSHOT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Feastly site — the home/menu page (the running website).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422392" cy="420624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 w="15875">
            <a:solidFill>
              <a:srgbClr val="EB100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217920" y="356616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  </a:t>
            </a:r>
            <a:pPr algn="ctr" indent="0" marL="0">
              <a:buNone/>
            </a:pPr>
            <a:r>
              <a:rPr lang="en-US" sz="1300" b="1" dirty="0">
                <a:solidFill>
                  <a:srgbClr val="B10C00"/>
                </a:solidFill>
              </a:rPr>
              <a:t>SCREENSHOT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023360"/>
            <a:ext cx="4873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Browser console — the "[Feastly][dataLayer] purchase" log with the payload expanded.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VALIDATE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 Assurance — watch it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46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Connect a session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756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Scan/enter the URL to attach the site.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See the chain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169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layer event → rule fired → sendEvent.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Inspect the XDM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58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Confirm the exact payload leaving the browser.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Edge response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994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 200 means the Edge accepted the event.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1691640"/>
            <a:ext cx="5696712" cy="4480560"/>
          </a:xfrm>
          <a:prstGeom prst="roundRect">
            <a:avLst>
              <a:gd name="adj" fmla="val 1633"/>
            </a:avLst>
          </a:prstGeom>
          <a:solidFill>
            <a:srgbClr val="F2F2F2"/>
          </a:solidFill>
          <a:ln w="15875">
            <a:solidFill>
              <a:srgbClr val="EB100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943600" y="338328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  </a:t>
            </a:r>
            <a:pPr algn="ctr" indent="0" marL="0">
              <a:buNone/>
            </a:pPr>
            <a:r>
              <a:rPr lang="en-US" sz="1300" b="1" dirty="0">
                <a:solidFill>
                  <a:srgbClr val="B10C00"/>
                </a:solidFill>
              </a:rPr>
              <a:t>SCREENSHOT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84048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Assurance — the event list with a "purchase" selected, showing the XDM payload + Edge 200.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VERIFY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Confirm the data in AEP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46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Dataset → Preview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756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See rows arriving in the Feastly dataset.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Monitoring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169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Batch/streaming ingestion success or failures.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Profile → Lookup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58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Find the person by Email or ECID.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EB1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Identity graph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994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See ECID ↔ Email linked; events + attributes.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1691640"/>
            <a:ext cx="5696712" cy="4480560"/>
          </a:xfrm>
          <a:prstGeom prst="roundRect">
            <a:avLst>
              <a:gd name="adj" fmla="val 1633"/>
            </a:avLst>
          </a:prstGeom>
          <a:solidFill>
            <a:srgbClr val="F2F2F2"/>
          </a:solidFill>
          <a:ln w="15875">
            <a:solidFill>
              <a:srgbClr val="EB100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943600" y="338328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  </a:t>
            </a:r>
            <a:pPr algn="ctr" indent="0" marL="0">
              <a:buNone/>
            </a:pPr>
            <a:r>
              <a:rPr lang="en-US" sz="1300" b="1" dirty="0">
                <a:solidFill>
                  <a:srgbClr val="B10C00"/>
                </a:solidFill>
              </a:rPr>
              <a:t>SCREENSHOT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84048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AEP — Profile lookup showing attributes + event timeline (and the identity graph tab).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SUPPORT PLAYBOOK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When data is missing — where to look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01952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Rule not firing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67712"/>
            <a:ext cx="4357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Event "listen for" ≠ the data-layer name (camelCase, no dots).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73736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595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054596" y="1901952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Empty / wrong XDM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54596" y="2267712"/>
            <a:ext cx="4357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element path typo, or field not in the schema.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19272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No data in AEP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85032"/>
            <a:ext cx="4357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Datastream missing the AEP service, or wrong dataset.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315468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595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54596" y="3319272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Identity not stitching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54596" y="3685032"/>
            <a:ext cx="4357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Email not marked as an identity, or not in identityMap.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736592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Nothing at all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102352"/>
            <a:ext cx="4357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Tags embed not on the page / wrong environment build.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7356" y="457200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05956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54596" y="4736592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0C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Duplicated metrics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54596" y="5102352"/>
            <a:ext cx="4357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Same event fired twice, or state bleeding between events.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A311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ONE MENTAL MODEL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If you remember one thing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“The website only speaks the data layer. Tags translates it to XDM, the Web SDK ships it to the datastream, and the datastream routes it to AEP.”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2C2C2C"/>
          </a:solidFill>
          <a:ln w="12700">
            <a:solidFill>
              <a:srgbClr val="EB1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layer = what happened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41148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2C2C2C"/>
          </a:solidFill>
          <a:ln w="12700">
            <a:solidFill>
              <a:srgbClr val="EB1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 elements = variables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41148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2C2C2C"/>
          </a:solidFill>
          <a:ln w="12700">
            <a:solidFill>
              <a:srgbClr val="EB1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Rules = when → send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15400" y="41148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2C2C2C"/>
          </a:solidFill>
          <a:ln w="12700">
            <a:solidFill>
              <a:srgbClr val="EB1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98280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Datastream = where it goes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846320"/>
            <a:ext cx="3108960" cy="3108960"/>
          </a:xfrm>
          <a:prstGeom prst="ellipse">
            <a:avLst/>
          </a:prstGeom>
          <a:solidFill>
            <a:srgbClr val="FDEC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🍔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Try it yourself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Clone the repo, run it, then point it at your own Adobe via the ⚙ Adobe Config panel.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8686800" cy="73152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311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github.com/princeparvat80/aep-data-collection-food-demo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1F1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Run:  npm install  →  npm run dev  →  http://localhost:5175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Questions? Let's open the console and trace an event together.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Feastly — Data Collection to AEP</dc:title>
  <dc:subject>PptxGenJS Presentation</dc:subject>
  <dc:creator>Feastly Demo</dc:creator>
  <cp:lastModifiedBy>Feastly Demo</cp:lastModifiedBy>
  <cp:revision>1</cp:revision>
  <dcterms:created xsi:type="dcterms:W3CDTF">2026-09-27T15:15:14Z</dcterms:created>
  <dcterms:modified xsi:type="dcterms:W3CDTF">2026-09-27T15:15:14Z</dcterms:modified>
</cp:coreProperties>
</file>