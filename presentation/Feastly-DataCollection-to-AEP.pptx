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Feastly is a fake food-ordering site we built purely to show how the Data Collection side works and how data arrives in AEP. Our team lives in AEP; today we look one step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Reframe: this is NOT about us debugging Data Collection. It is about understanding how data reaches AEP so we can investigate, guide the customer, and decide the right owning team (us / Data Collection / Analytics). The scenarios on the left are exactly the judgement calls we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the decoupling: the site is dumb; Adobe is where the shaping and routing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a reference slide. Tell people it maps to the flow: data layer -&gt; data elements -&gt; rules -&gt; web sdk -&gt; datastream -&gt; schema/identity/profile.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before we look at the actual config, let us learn the vocabulary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is just a container. Everything else (extensions, data elements, rules, libraries) lives inside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add features. Feastly needs just two: the Web SDK (to send) and the Client Data Layer (to listen).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element = variable. Read a value from the data layer once; reuse in many rules and in the XDM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are just Event -&gt; Condition -&gt; Action. Our rules mostly skip the condition: on &lt;event&gt; -&gt; Send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Library = a shopping bag of changes. Build = compile. Then promote dev -&gt; staging -&gt; prod. We use dev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idea: one call to the Edge, fanned out server-side by the datastream. Add/remove destinations without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= the contract. If a field is not in the schema, it will not land. Show the custom field group and the Email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datastream is where data is routed server-side. Support tip: "data not in AEP" often = AEP service missing here, or wrong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holds extensions, data elements and rules. The embed script is what the site loads (via our Adobe Config panel).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data elements are like variables; rules are the functions that use them. 8 read the data layer, 2 are custom code (products array, identity), 1 assembles the XDM.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teaching point: the Event LISTENS for the camelCase data-layer name; the Action TYPE is the dotted XDM eventType. Mixing these up is the #1 "rule not firing"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sign-in the person is only an ECID. After sign-in the Email joins the identityMap and AEP merges the two into one profile via the identity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DevTools console live if you can. Show a purchase and expand the object so they see commerce.order, productListItems, identityMap and the attributes.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Assurance is the bridge between the browser and AEP. If it looks good here but not in AEP, the issue is datastream/dataset config, not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home turf for the team. Tie it back: the fields they see here are exactly the ones defined in the schema and populated by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team will screenshot for their own reference. Walk the funnel top-down: browser (Assurance) → datastream → dataset →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one-liner. This is the takeaway that lets them reason about any collection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inviting them to clone and try; offer to pair on wiring it to a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3840480" cy="3840480"/>
          </a:xfrm>
          <a:prstGeom prst="ellipse">
            <a:avLst/>
          </a:prstGeom>
          <a:solidFill>
            <a:srgbClr val="EB1000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743200" cy="2743200"/>
          </a:xfrm>
          <a:prstGeom prst="ellipse">
            <a:avLst/>
          </a:prstGeom>
          <a:solidFill>
            <a:srgbClr val="FFA311"/>
          </a:solidFill>
          <a:ln w="12700">
            <a:solidFill>
              <a:srgbClr val="FFA31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🍔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Understanding Data Collection → AEP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How a website sends streaming events, profile attributes and identity into Adobe Experience Platform — the simple, standard way.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12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68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Prince Parvat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070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Technical Product Consultant 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AIM OF THIS SESSION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Understand the flow — and route cases with confidence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 are an AEP support team. We do not build or debug a customer’s Data Collection setup — but we must understand how website data reaches AEP so we can investigate, guide the customer, and route the case to the right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62956" cy="3200400"/>
          </a:xfrm>
          <a:prstGeom prst="roundRect">
            <a:avLst>
              <a:gd name="adj" fmla="val 2571"/>
            </a:avLst>
          </a:prstGeom>
          <a:solidFill>
            <a:srgbClr val="F7F7F7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🔎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441448"/>
            <a:ext cx="4265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you’ll be able to reason about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063240"/>
            <a:ext cx="46314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SDK: a hit is missing, or some data isn’t ingested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Mobile SDK: how the data flows 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Using Adobe Assurance to trace an event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Reading a failed batch / ingestion error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Guiding the customer to the right next step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Deciding who owns it: us, Data Collection, or Analytics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7356" y="2148840"/>
            <a:ext cx="5362956" cy="3200400"/>
          </a:xfrm>
          <a:prstGeom prst="roundRect">
            <a:avLst>
              <a:gd name="adj" fmla="val 2571"/>
            </a:avLst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51676" y="2423160"/>
            <a:ext cx="457200" cy="457200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676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146036" y="2441448"/>
            <a:ext cx="4265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this project gives you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643116" y="3063240"/>
            <a:ext cx="463143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Set up Data Collection hands-on (schema, datastream, rules)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 streaming data into a real-time AEP profile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website data ingested into AEP (and other stores)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practical, end-to-end mental model of the pipeline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Confidence to investigate and route a case correctly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Scope:  </a:t>
            </a:r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debugging a customer’s Data Collection implementation sits with the Data Collection / Analytics team. Our job is to understand the flow and route the case to the right owner.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From a click to a profile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4805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805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Website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User clicks / views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67128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59152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59152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50592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adobeDataLayer.push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70248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70248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Tags (Launch)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+ Data Elements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81344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81344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181344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72784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sendEvent (XDM)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00416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92440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1F1F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92440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 routing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1000"/>
                </a:solidFill>
              </a:rPr>
              <a:t>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0353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EB10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353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000353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9497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Events + Profile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website only writes to the data layer. Everything downstream is configured in Adobe — no code changes to add or fix tracking.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This is the single most important slide — keep coming back to it.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KEY CONCEPTS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vocabulary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128016" cy="128016"/>
          </a:xfrm>
          <a:prstGeom prst="ellipse">
            <a:avLst/>
          </a:prstGeom>
          <a:solidFill>
            <a:srgbClr val="B10C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81051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JS object (adobeDataLayer) the site pushes events into.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874520"/>
            <a:ext cx="128016" cy="128016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34556" y="1810512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A35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05956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plug-in in Tags (e.g. Web SDK, Client Data Layer).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53512"/>
            <a:ext cx="128016" cy="128016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89504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3F9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reusable "variable" that reads a value (from the data layer).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953512"/>
            <a:ext cx="128016" cy="128016"/>
          </a:xfrm>
          <a:prstGeom prst="ellipse">
            <a:avLst/>
          </a:prstGeom>
          <a:solidFill>
            <a:srgbClr val="C67F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34556" y="2889504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7F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05956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X happens → do Y (e.g. on "purchase" → send event).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032504"/>
            <a:ext cx="128016" cy="128016"/>
          </a:xfrm>
          <a:prstGeom prst="ellipse">
            <a:avLst/>
          </a:prstGeom>
          <a:solidFill>
            <a:srgbClr val="C2149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3968496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49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Schema (XDM)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agreed structure/shape of the data in AEP.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5956" y="4032504"/>
            <a:ext cx="128016" cy="128016"/>
          </a:xfrm>
          <a:prstGeom prst="ellipse">
            <a:avLst/>
          </a:prstGeom>
          <a:solidFill>
            <a:srgbClr val="0AA35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34556" y="3968496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A35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05956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Server-side config that routes Edge data to AEP (and others).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111496"/>
            <a:ext cx="128016" cy="128016"/>
          </a:xfrm>
          <a:prstGeom prst="ellipse">
            <a:avLst/>
          </a:prstGeom>
          <a:solidFill>
            <a:srgbClr val="3A63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04748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3F9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Who the user is — ECID (anon) + Email (known).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77356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5956" y="5111496"/>
            <a:ext cx="128016" cy="128016"/>
          </a:xfrm>
          <a:prstGeom prst="ellipse">
            <a:avLst/>
          </a:prstGeom>
          <a:solidFill>
            <a:srgbClr val="B10C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34556" y="5047488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505956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unified person in AEP: identities + attributes + events.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206240"/>
            <a:ext cx="3474720" cy="347472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words your team will hear — explained simply, with pictures.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Tag (Launch) property?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Your tracking "control room" — one container that holds everything you configure.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3931920"/>
          </a:xfrm>
          <a:prstGeom prst="roundRect">
            <a:avLst>
              <a:gd name="adj" fmla="val 2326"/>
            </a:avLst>
          </a:prstGeom>
          <a:solidFill>
            <a:srgbClr val="F7F7F7"/>
          </a:solidFill>
          <a:ln w="19050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🏷️  Tag Property — “Feastly Web”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Extensions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Plug-ins that add powers (Web SDK, Client Data Layer).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73018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73018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178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755898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Reusable variables that read values from the page.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1636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31636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368796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14516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X happens → do Y (send an event).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90254" y="2880360"/>
            <a:ext cx="2384298" cy="2743200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890254" y="3044952"/>
            <a:ext cx="238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027414" y="3593592"/>
            <a:ext cx="2109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Libraries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073134" y="3931920"/>
            <a:ext cx="20185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Bundles of changes you build &amp; publish.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an Extension?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plug-in that gives the property new capabilities — like installing an app on your phone.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Built-in basics: custom code, page-load events.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67784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504944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 Web SDK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50664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Sends events to the Edge / Datastream.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86928" y="2286000"/>
            <a:ext cx="3453384" cy="2377440"/>
          </a:xfrm>
          <a:prstGeom prst="roundRect">
            <a:avLst>
              <a:gd name="adj" fmla="val 3462"/>
            </a:avLst>
          </a:prstGeom>
          <a:solidFill>
            <a:srgbClr val="FDEC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6928" y="2450592"/>
            <a:ext cx="3453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24088" y="299923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Client Data Layer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3337560"/>
            <a:ext cx="3087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Listens to adobeDataLayer pushes.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 only need these two ➜ AEP Web SDK  +  Adobe Client Data Layer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Data Element?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named, reusable "variable" that grabs a value once — so every rule can reuse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F1F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user: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email: "a@b.com"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26334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🔤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1821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3520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“Feastly - user”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reads user from the data layer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2468880"/>
            <a:ext cx="3291840" cy="1828800"/>
          </a:xfrm>
          <a:prstGeom prst="roundRect">
            <a:avLst>
              <a:gd name="adj" fmla="val 5000"/>
            </a:avLst>
          </a:prstGeom>
          <a:ln w="19050">
            <a:solidFill>
              <a:srgbClr val="EB1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3154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595360" y="2468880"/>
            <a:ext cx="3044952" cy="1828800"/>
          </a:xfrm>
          <a:prstGeom prst="roundRect">
            <a:avLst>
              <a:gd name="adj" fmla="val 4500"/>
            </a:avLst>
          </a:prstGeom>
          <a:solidFill>
            <a:srgbClr val="FDEC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0" y="2633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31821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Reused in 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3520440"/>
            <a:ext cx="2679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Every rule references it — define once, use everywhere.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Analogy: like a saved contact — set the number once, dial it from anywhere.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What is a Rule?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Simple logic: WHEN something happens → (optionally IF a condition) → DO an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EB1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①  EVENT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“purchase” is pushed to the data layer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FFA31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340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②  CONDITION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If… (optional)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e.g. only on the checkout page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3291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138160" y="2377440"/>
            <a:ext cx="3383280" cy="2194560"/>
          </a:xfrm>
          <a:prstGeom prst="roundRect">
            <a:avLst>
              <a:gd name="adj" fmla="val 4167"/>
            </a:avLst>
          </a:prstGeom>
          <a:solidFill>
            <a:srgbClr val="1F1F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3816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③  ACTION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Then do…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520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Send the event to the Edge (Web SDK)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⚠️  Event listens for the data-layer name (purchase). Action Type = the XDM eventType (commerce.purchases). Don't mix them up!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Publishing Flow &amp; Libraries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Library bundles your changes; you Build it, then promote it through environments.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379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9095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Changes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Edit data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elements &amp; 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18004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491740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91740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628900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Library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674620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Bundle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changes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155948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9684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2F2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29684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🔨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466844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12564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Compile to 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script file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93892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67628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67628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304788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350508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Test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dev site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831836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05572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5572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🚦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8142732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Staging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188452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QA / approval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669780" y="34290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1000"/>
                </a:solidFill>
              </a:rPr>
              <a:t>▸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843516" y="2651760"/>
            <a:ext cx="1691640" cy="2011680"/>
          </a:xfrm>
          <a:prstGeom prst="roundRect">
            <a:avLst>
              <a:gd name="adj" fmla="val 4865"/>
            </a:avLst>
          </a:prstGeom>
          <a:solidFill>
            <a:srgbClr val="FDEC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43516" y="28163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🚀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9980676" y="33649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0026396" y="370332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Live to users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For this demo we build to Development and embed that script — the same flow scales to Staging → Production.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FOUNDATIONS · 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Datastream pipeline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 SDK sends ONE event to the Edge. The datastream decides which Adobe apps receive it — server-side.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🖥️ Browser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B1000"/>
                </a:solidFill>
              </a:rPr>
              <a:t>▸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🔀 Edge Network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Datastream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903720" y="214884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EB1000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0" y="2258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☁️ AEP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651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Profiles + datasets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03720" y="333756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2C2C2C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3447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📊 Analytics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Reports (optional)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1000"/>
                </a:solidFill>
              </a:rPr>
              <a:t>▸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4526280"/>
            <a:ext cx="4572000" cy="960120"/>
          </a:xfrm>
          <a:prstGeom prst="roundRect">
            <a:avLst>
              <a:gd name="adj" fmla="val 9524"/>
            </a:avLst>
          </a:prstGeom>
          <a:solidFill>
            <a:srgbClr val="2C2C2C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0" y="46360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🎯 Target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Personalization (optional)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enables only AEP — but the same event could feed all three without touching the website.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1 · AEP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XDM Schema — the shape of the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Class: ExperienceEvent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type of record — a time-stamped event.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Field groups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Web SDK EE + Commerce + custom "Feastly Details".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Identity: Email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Marked as an identity so AEP can stitch people.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Dataset → Profile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Enabled for Profile so events build real-time profiles.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Schema "Feastly Order Event" — show the field tree (_yourtenant.food / attributes / rating, commerce, identityMap).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2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— the routing switchboard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One datastream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"Feastly Web SDK" — the server-side config.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Experience Platform service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Added and pointed at the Feastly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ID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Web SDK sends to this ID at the Edge.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Extensible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Same event can also go to Analytics, Target, etc.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"Feastly Web SDK" — show the AEP service added + the Datastream ID.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COMPONENT 3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 (Launch) property + extensions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Property "Feastly Web"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container for all collection logic.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 Web SDK extension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Configured with the datastream + Org ID.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Client Data Layer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Listens to adobeDataLayer pushes.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Publish → embed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Build a library, embed the script on the site.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Tags property "Feastly Web" — show Extensions (Web SDK + Client Data Layer) installed.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— reusable variables (11)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Each reads one value from the data layer, so rules stay simple and consistent.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page name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3756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commerce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1540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9828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order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044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search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0936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rating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1540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9828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user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productListItems*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33756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0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identityMap*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- XDM**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48640" y="49606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4178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list in Tags — show the 11 "Feastly - ..." elements.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* Custom Code   ** XDM Object (builds the final payload)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— one per event (13)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Each rule: WHEN a data-layer event fires → SEND the XDM event to the Edge.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Page 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4728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View Menu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620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Search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25128" y="205740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44575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Dish View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 To Cart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3756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4728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Remove From Cart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620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Checkout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91540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25128" y="269748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2512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44575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Purchase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836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9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7899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Order Rating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33756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44728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86791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Login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12648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620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3620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5683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Signup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91540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25128" y="333756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2512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44575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 Update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388620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3977640"/>
            <a:ext cx="320040" cy="320040"/>
          </a:xfrm>
          <a:prstGeom prst="ellipse">
            <a:avLst/>
          </a:prstGeom>
          <a:solidFill>
            <a:srgbClr val="FFA31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977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78992" y="3886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59" name="Text 57"/>
          <p:cNvSpPr txBox="1"/>
          <p:nvPr/>
        </p:nvSpPr>
        <p:spPr>
          <a:xfrm>
            <a:off x="822960" y="53949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single rule (e.g. "Feastly - Purchase") — show its Event (listen for "purchase") + Action (Send event, type commerce.purchases).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&amp; PROFILE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Anonymous → Known: how one profile forms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🕶️  Anonymous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ECID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set by the Web SDK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39319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2C2C2C"/>
          </a:solidFill>
          <a:ln w="15875">
            <a:solidFill>
              <a:srgbClr val="EB1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👤  Signed 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Email identity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FC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added to identityMap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1000"/>
                </a:solidFill>
              </a:rPr>
              <a:t>▸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5852160" y="2834640"/>
            <a:ext cx="5120640" cy="2103120"/>
          </a:xfrm>
          <a:prstGeom prst="roundRect">
            <a:avLst>
              <a:gd name="adj" fmla="val 5217"/>
            </a:avLst>
          </a:prstGeom>
          <a:solidFill>
            <a:srgbClr val="EB1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🧑‍🤝‍🧑  One AEP Profile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9E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graph stitches ECID ↔ Email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931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attributes (loyalty, diet, cuisine, city)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+ full event history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This stitching is exactly what support debugs when "two profiles should be one."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IT LIVE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Every action becomes an event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Browse → add to cart → checkout → purchase → rate. Each click pushes a clean event to the data layer, which the console prints.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Feastly site — the home/menu page (the running website).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22392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217920" y="3566160"/>
            <a:ext cx="5422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402336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Browser console — the "[Feastly][dataLayer] purchase" log with the payload expanded.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VALIDATE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Adobe Assurance — watch it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Connect a session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Scan/enter the URL to attach the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the chain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 event → rule fired → sendEvent.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Inspect the XDM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Confirm the exact payload leaving the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Edge response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 200 means the Edge accepted the event.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Assurance — the event list with a "purchase" selected, showing the XDM payload + Edge 200.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Confirm the data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Dataset → Preview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rows arriving in the Feastly dataset.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Monitoring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Batch/streaming ingestion success or failures.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Profile → Lookup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Find the person by Email or ECID.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EB1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graph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See ECID ↔ Email linked; events + attributes.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2F2F2"/>
          </a:solidFill>
          <a:ln w="15875">
            <a:solidFill>
              <a:srgbClr val="EB10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B10C00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AEP — Profile lookup showing attributes + event timeline (and the identity graph tab).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B10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SUPPORT PLAYBOOK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When data is missing — where to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 not firing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Event "listen for" ≠ the data-layer name (camelCase, no dots).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595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54596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Empty / wrong XDM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4596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 path typo, or field not in the schema.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No data in AEP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missing the AEP service, or wrong dataset.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595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4596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Identity not stitching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54596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Email not marked as an identity, or not in identityMap.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Nothing at all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Tags embed not on the page / wrong environment build.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DECE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5956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054596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0C00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Duplicated metrics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4596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Same event fired twice, or state bleeding between events.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ONE MENTAL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If you remember one 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“The website only speaks the data layer. Tags translates it to XDM, the Web SDK ships it to the datastream, and the datastream routes it to AEP.”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layer = what happened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 elements = variables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Rules = when → send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1540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2C2C2C"/>
          </a:solidFill>
          <a:ln w="12700">
            <a:solidFill>
              <a:srgbClr val="EB1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982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Datastream = where it goes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846320"/>
            <a:ext cx="3108960" cy="3108960"/>
          </a:xfrm>
          <a:prstGeom prst="ellipse">
            <a:avLst/>
          </a:prstGeom>
          <a:solidFill>
            <a:srgbClr val="FDECE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Clone the repo, run it, then point it at your own Adobe via the ⚙ Adobe Config panel.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8686800" cy="73152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311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github.com/princeparvat80/aep-data-collection-food-demo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Run:  npm install  →  npm run dev  →  http://localhost:5175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Questions? Let's open the console and trace an event together.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© 2026 Adobe. All Rights Reserved. Adobe Confidential.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A3A3"/>
                </a:solidFill>
                <a:latin typeface="Adobe Clean" pitchFamily="34" charset="0"/>
                <a:ea typeface="Adobe Clean" pitchFamily="34" charset="-122"/>
                <a:cs typeface="Adobe Clean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Feastly — Data Collection to AEP</dc:title>
  <dc:subject>PptxGenJS Presentation</dc:subject>
  <dc:creator>Feastly Demo</dc:creator>
  <cp:lastModifiedBy>Feastly Demo</cp:lastModifiedBy>
  <cp:revision>1</cp:revision>
  <dcterms:created xsi:type="dcterms:W3CDTF">2026-09-27T15:27:42Z</dcterms:created>
  <dcterms:modified xsi:type="dcterms:W3CDTF">2026-09-27T15:27:42Z</dcterms:modified>
</cp:coreProperties>
</file>